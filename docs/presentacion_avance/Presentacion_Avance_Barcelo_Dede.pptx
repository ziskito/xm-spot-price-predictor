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84F95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84F95"/>
                </a:solidFill>
                <a:latin typeface="Calibri"/>
              </a:rPr>
              <a:t>MAPE por tramo del horizonte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Ensamble</c:v>
                </c:pt>
              </c:strCache>
            </c:strRef>
          </c:tx>
          <c:spPr>
            <a:solidFill>
              <a:srgbClr val="184F9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1-24 h</c:v>
                  </c:pt>
                  <c:pt idx="1">
                    <c:v>25-48 h</c:v>
                  </c:pt>
                  <c:pt idx="2">
                    <c:v>49-72 h</c:v>
                  </c:pt>
                  <c:pt idx="3">
                    <c:v>Global 1-72 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10.57</c:v>
                </c:pt>
                <c:pt idx="1">
                  <c:v>18.29</c:v>
                </c:pt>
                <c:pt idx="2">
                  <c:v>21.69</c:v>
                </c:pt>
                <c:pt idx="3">
                  <c:v>16.85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Persistencia</c:v>
                </c:pt>
              </c:strCache>
            </c:strRef>
          </c:tx>
          <c:spPr>
            <a:solidFill>
              <a:srgbClr val="B8C4D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1-24 h</c:v>
                  </c:pt>
                  <c:pt idx="1">
                    <c:v>25-48 h</c:v>
                  </c:pt>
                  <c:pt idx="2">
                    <c:v>49-72 h</c:v>
                  </c:pt>
                  <c:pt idx="3">
                    <c:v>Global 1-72 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15.82</c:v>
                </c:pt>
                <c:pt idx="1">
                  <c:v>22.78</c:v>
                </c:pt>
                <c:pt idx="2">
                  <c:v>26.98</c:v>
                </c:pt>
                <c:pt idx="3">
                  <c:v>21.86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Planeado a la fecha</c:v>
                </c:pt>
              </c:strCache>
            </c:strRef>
          </c:tx>
          <c:spPr>
            <a:solidFill>
              <a:srgbClr val="B8C4D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F0 Formulación</c:v>
                  </c:pt>
                  <c:pt idx="1">
                    <c:v>F1 Datos</c:v>
                  </c:pt>
                  <c:pt idx="2">
                    <c:v>F2 Modelado</c:v>
                  </c:pt>
                  <c:pt idx="3">
                    <c:v>F3 Motor</c:v>
                  </c:pt>
                  <c:pt idx="4">
                    <c:v>F4 Imágenes y validación</c:v>
                  </c:pt>
                  <c:pt idx="5">
                    <c:v>F5 Cierre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94</c:v>
                </c:pt>
                <c:pt idx="3">
                  <c:v>100</c:v>
                </c:pt>
                <c:pt idx="4">
                  <c:v>90</c:v>
                </c:pt>
                <c:pt idx="5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Logrado</c:v>
                </c:pt>
              </c:strCache>
            </c:strRef>
          </c:tx>
          <c:spPr>
            <a:solidFill>
              <a:srgbClr val="184F9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F0 Formulación</c:v>
                  </c:pt>
                  <c:pt idx="1">
                    <c:v>F1 Datos</c:v>
                  </c:pt>
                  <c:pt idx="2">
                    <c:v>F2 Modelado</c:v>
                  </c:pt>
                  <c:pt idx="3">
                    <c:v>F3 Motor</c:v>
                  </c:pt>
                  <c:pt idx="4">
                    <c:v>F4 Imágenes y validación</c:v>
                  </c:pt>
                  <c:pt idx="5">
                    <c:v>F5 Cierre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82</c:v>
                </c:pt>
                <c:pt idx="3">
                  <c:v>94</c:v>
                </c:pt>
                <c:pt idx="4">
                  <c:v>52</c:v>
                </c:pt>
                <c:pt idx="5">
                  <c:v>27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Avance</c:v>
                </c:pt>
              </c:strCache>
            </c:strRef>
          </c:tx>
          <c:spPr>
            <a:solidFill>
              <a:srgbClr val="184F9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OE1</c:v>
                  </c:pt>
                  <c:pt idx="1">
                    <c:v>OE2</c:v>
                  </c:pt>
                  <c:pt idx="2">
                    <c:v>OE3</c:v>
                  </c:pt>
                  <c:pt idx="3">
                    <c:v>OE4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90</c:v>
                </c:pt>
                <c:pt idx="2">
                  <c:v>70</c:v>
                </c:pt>
                <c:pt idx="3">
                  <c:v>35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· 0:20
Buenos días. Somos Juan David Barceló y Rafael Dede, y vamos a presentar el avance de nuestro proyecto final: una plataforma que pronostica el precio de bolsa de la energía en Colombia y lo traduce en una recomendación para quien compra o vende energía. Nuestros asesores son el profesor José Daniel Soto y la profesora Daniela Charris.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· 0:15
La presentación sigue este orden: primero el problema y los objetivos, luego el estado del arte y el diseño del sistema, y al final el estado actual de cada objetivo, el cronograma y lo que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· 0:45
El precio de bolsa se fija cada hora, y como cerca del 72 % de la generación colombiana es hidroeléctrica, depende mucho del agua disponible. En la gráfica se ve el precio diario de 2019 a 2026 y los episodios de El Niño: en semanas el precio puede multiplicarse. En 2026, por ejemplo, el precio medio pasó de unos 200 a casi 600 pesos por kilovatio-hora entre el primer y el segundo tramo del año. Los datos de XM son públicos, pero en tablas y curvas no dicen cuándo conviene comprar o vender, sobre todo para empresas medianas sin equipos de analítica. Eso es lo que queremos resolver.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· 0:40
El objetivo general es diseñar, implementar y validar una plataforma de procesamiento de datos para analizar y pronosticar el precio de la energía y apoyar la toma de decisiones. Se divide en cuatro objetivos específicos: el primero, adquirir y caracterizar los datos; el segundo, implementar y comparar modelos de pronóstico; el tercero, un motor de decisión que convierta el pronóstico y su incertidumbre en señales de comprar, vender o esperar; y el cuarto, validar ese motor.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· 0:40
Estos son los alcances y limitaciones tal como quedaron en el Anexo 1. Trabajamos solo con datos públicos, a resolución horaria entre 2019 y agosto de 2026, y comparamos modelos a 24 y 72 horas. El motor usa percentiles del precio y su incertidumbre según el rol, y se valida con backtesting y con 3 a 5 usuarios. No ejecutamos transacciones ni nos integramos con el despacho, no desagregamos la generación por tipo de recurso, y el backtesting solo cubre condiciones que ya ocurrieron. Ahora Juan presenta el estado del 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· 0:50
En Colombia hay antecedentes con redes NARX, con ARIMA-IGARCH y con series funcionales; este último logra un MAPE de 6,7 %, pero en un periodo calmo, 2000 a 2017, y con un solo modelo. Internacionalmente, Lago y colaboradores definen el benchmark y las buenas prácticas del área, y en Nueva Zelanda, un mercado también hidroeléctrico, ninguno de 33 modelos le gana al pronóstico ingenuo. La brecha es clara: ningún trabajo cuantifica la incertidumbre ni la convierte en una recomendación. Ese es nuestro aporte.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· 0:40
Integramos seis fuentes públicas: precio, demanda, generación, embalses y aportes de XM, y el índice ONI de la NOAA para El Niño. Tienen resoluciones distintas, así que todo se lleva a resolución horaria: las diarias por interpolación y el ONI con una rampa que nunca usa datos futuros. El resultado es un dataset de 66.576 horas sin huecos. A partir de él construimos 40 variables, todas con al menos 24 horas de rezago para que el modelo no use información que en la práctica no tendría.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· 0:45
Este es el diseño del sistema en tres bloques, uno por objetivo. Primero, la cadena de datos: adquisición, sincronización y caracterización. Segundo, el pronóstico: seis modelos de familias distintas combinados en un ensamble, con bandas de incertidumbre. Tercero, la decisión: el motor lee el pronóstico por un contrato de datos, así que funciona con cualquier modelo, y el dashboard muestra la recomendación. Todo está en Python y versionado en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· 0:40
El objetivo 1 está completo. El periodograma del precio muestra picos claros en 24, 12 y 168 horas: el ciclo diario, el de medio día y el semanal. Esas componentes definieron las variables del modelo: rezagos de 24 y 168 horas y armónicos de calendario. También comparamos filtros de tendencia, y el de Savitzky-Golay siguió las subidas de precio más rápido y con menos ruido que el promedio móvil.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· 1:00
En el objetivo 2 comparamos seis modelos contra la persistencia, que repite el precio del día anterior y es la referencia estándar del área. El ensamble de seis modelos logra un MAPE de 10,45 % a 24 horas, frente a 15,81 % de la persistencia: un 27 % menos de error. La prueba de Diebold-Mariano confirma que la diferencia es significativa, con t de 7,76. En la gráfica se ve el pronóstico siguiendo al precio real en 2026, un año que nunca se usó para entrenar.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· 0:45
A 72 horas el error crece con la distancia, como es de esperar, pero el ensamble le gana a la persistencia en los tres tramos, con un MAPE global de 16,85 % frente a 21,86 %. Las bandas de incertidumbre cubren alrededor del 78 % de las horas, cerca del 80 % objetivo. Un hallazgo honesto: en los años históricos ningún modelo individual le gana siempre a la persistencia; por eso usamos un ensamble. Ahora Rafael presenta el motor de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· 1:00
El motor toma la mediana del pronóstico de cada hora y la compara con dos umbrales: si está por debajo del bajo, el comercializador recibe comprar y el generador retener; si está por encima del alto, evitar compra y vender; si no, esperar. Tenemos cuatro métodos que se diferencian en la referencia: fijo usa el histórico 2019-2025, rodante los últimos 30 días, banda agrega un filtro que espera cuando el pronóstico es muy incierto, e híbrido combina el rodante con ese filtro. La gráfica muestra el híbrido operando una semana de julio: vende en las horas caras, retiene en las baratas y espera cuando la banda es ancha.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· 0:55
Al principio elegíamos el método con mejor ventaja promedio del año, y ganaba banda. Pero al partir 2026 en dos mitades vimos que banda casi no actuaba en la primera, solo el 1 % de las horas, porque el precio de 2026 se alejó del histórico. Por eso cambiamos el criterio: ahora gana el método que mejor se sostiene en su peor mitad. Con ese criterio el motor elige híbrido para el generador y rodante para el comercializador, con ventaja positiva en las dos mitades. Para un cliente de ejemplo de 100 kilovatios, en el último mes eso equivale a más 1,06 millones de pesos con híbrido, frente a menos 0,65 millones con banda. Es ilustrativo: no modela contratos ni costos de transacción.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· 0:35
El dashboard tiene dos vistas. La vista Operador responde qué hago ahora: la acción para la hora elegida, dónde cae el precio entre los umbrales y el nivel de confianza. La vista Analista deja cambiar el método, los percentiles y el rango de fechas. Ambas se verificaron con pruebas automatizadas en las cuatro combinaciones de rol y horizonte. Juan cuenta las dificultades.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· 0:40
Ninguna dificultad frenó el proyecto, pero varias cambiaron el enfoque. Unir series de distinta resolución sin usar datos futuros exigió reglas explícitas de rezago. Los modelos individuales no superaban a la persistencia en años históricos, y la respuesta fue el ensamble. La demanda del 4 y 5 de agosto llegó mal desde la fuente; lo detectamos al reejecutar todo y reentrenamos. Y en el motor, el mejor método en promedio no era estable, lo que llevó al criterio de estabilidad.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· 0:30
En el cronograma, a la fecha de corte llevamos 77 % de avance frente a 87 % planeado. Las fases 0 y 1 están completas; el atraso se concentra en la fase 4, imágenes de decisión y validación con usuarios, porque la corrección de datos y los informes consumieron ese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· 0:20
Por objetivos: OE1 al 100 %, OE2 al 90 %, OE3 al 70 % y OE4 al 35 %, para un avance general de 74 %.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· 0:25
En las semanas 11 y 12 validamos el dashboard con 3 a 5 usuarios y conectamos el motor al ensamble de seis modelos. En las 13 y 14, la biblioteca de imágenes de decisión y el backtesting histórico del motor. Y en las 15 y 16, el manual del motor, las pruebas de reproducibilidad y los entregables finales.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· 0:05
Estas son las referencias principales; el listado completo está en 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· 0:05
Muchas gracias.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-1234440"/>
            <a:ext cx="2468880" cy="2468880"/>
          </a:xfrm>
          <a:prstGeom prst="donut">
            <a:avLst/>
          </a:prstGeom>
          <a:solidFill>
            <a:srgbClr val="1FA6E0">
              <a:alpha val="65000"/>
            </a:srgbClr>
          </a:solidFill>
          <a:ln w="12700">
            <a:solidFill>
              <a:srgbClr val="1FA6E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INGENIERÍA ELECTRÓNICA · UNIVERSIDAD DEL NORTE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y apoyo a la decisión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del proyecto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por: Juan David Barceló Barraza y Rafael Andrés Dede Perdomo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24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Asesores: José Daniel Soto Ortiz · Daniela María Charris Stand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960120"/>
            <a:ext cx="2286000" cy="22860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508760"/>
            <a:ext cx="1188720" cy="1188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97880" y="2743200"/>
            <a:ext cx="1051560" cy="1051560"/>
          </a:xfrm>
          <a:prstGeom prst="ellipse">
            <a:avLst/>
          </a:prstGeom>
          <a:solidFill>
            <a:srgbClr val="1FA6E0"/>
          </a:solidFill>
          <a:ln w="12700">
            <a:solidFill>
              <a:srgbClr val="1FA6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254" y="2995574"/>
            <a:ext cx="546811" cy="54681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38160" y="3200400"/>
            <a:ext cx="713232" cy="713232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336" y="3371576"/>
            <a:ext cx="370881" cy="3708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-1234440"/>
            <a:ext cx="2468880" cy="2468880"/>
          </a:xfrm>
          <a:prstGeom prst="donut">
            <a:avLst/>
          </a:prstGeom>
          <a:solidFill>
            <a:srgbClr val="1FA6E0">
              <a:alpha val="75000"/>
            </a:srgbClr>
          </a:solidFill>
          <a:ln w="12700">
            <a:solidFill>
              <a:srgbClr val="1FA6E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828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0" y="4572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166360" y="457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0" y="896112"/>
            <a:ext cx="4114800" cy="0"/>
          </a:xfrm>
          <a:prstGeom prst="line">
            <a:avLst/>
          </a:prstGeom>
          <a:noFill/>
          <a:ln w="12700">
            <a:solidFill>
              <a:srgbClr val="184F9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987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9875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1426464"/>
            <a:ext cx="4114800" cy="0"/>
          </a:xfrm>
          <a:prstGeom prst="line">
            <a:avLst/>
          </a:prstGeom>
          <a:noFill/>
          <a:ln w="12700">
            <a:solidFill>
              <a:srgbClr val="184F9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5179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5179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Alcances y limitaciones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0" y="1956816"/>
            <a:ext cx="4114800" cy="0"/>
          </a:xfrm>
          <a:prstGeom prst="line">
            <a:avLst/>
          </a:prstGeom>
          <a:noFill/>
          <a:ln w="12700">
            <a:solidFill>
              <a:srgbClr val="184F9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0482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0482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0" y="2487168"/>
            <a:ext cx="4114800" cy="0"/>
          </a:xfrm>
          <a:prstGeom prst="line">
            <a:avLst/>
          </a:prstGeom>
          <a:noFill/>
          <a:ln w="12700">
            <a:solidFill>
              <a:srgbClr val="184F9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25786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578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diseño del sistema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0" y="3017520"/>
            <a:ext cx="4114800" cy="0"/>
          </a:xfrm>
          <a:prstGeom prst="line">
            <a:avLst/>
          </a:prstGeom>
          <a:noFill/>
          <a:ln w="12700">
            <a:solidFill>
              <a:srgbClr val="184F9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31089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31089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(OE1 a OE4)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0" y="3547872"/>
            <a:ext cx="4114800" cy="0"/>
          </a:xfrm>
          <a:prstGeom prst="line">
            <a:avLst/>
          </a:prstGeom>
          <a:noFill/>
          <a:ln w="12700">
            <a:solidFill>
              <a:srgbClr val="184F9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3639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3639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y avance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0" y="4078224"/>
            <a:ext cx="4114800" cy="0"/>
          </a:xfrm>
          <a:prstGeom prst="line">
            <a:avLst/>
          </a:prstGeom>
          <a:noFill/>
          <a:ln w="12700">
            <a:solidFill>
              <a:srgbClr val="184F9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41696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1696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0" y="4608576"/>
            <a:ext cx="4114800" cy="0"/>
          </a:xfrm>
          <a:prstGeom prst="line">
            <a:avLst/>
          </a:prstGeom>
          <a:noFill/>
          <a:ln w="12700">
            <a:solidFill>
              <a:srgbClr val="184F9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12064" cy="51206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95" y="452079"/>
            <a:ext cx="266273" cy="26627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2743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4300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 bolsa se fija cada hora sobre una matriz cercana a 72 % hidroeléctrica [1]: durante El Niño puede multiplicarse en semanas.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XM son públicos, pero en tablas y curvas no muestran el riesgo ni las ventanas de decisión, en especial para empresas medianas sin herramientas analíticas.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383280"/>
            <a:ext cx="4114800" cy="1143000"/>
          </a:xfrm>
          <a:prstGeom prst="roundRect">
            <a:avLst>
              <a:gd name="adj" fmla="val 96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474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 una plataforma que pronostique el precio a 24–72 h y lo traduzca en una recomendación por hora y por rol.</a:t>
            </a:r>
            <a:endParaRPr lang="en-US" sz="1300" dirty="0"/>
          </a:p>
        </p:txBody>
      </p:sp>
      <p:pic>
        <p:nvPicPr>
          <p:cNvPr id="8" name="Image 1" descr="C:\Users\rafad\Downloads\Proyecto_Final\xm-spot-price-predictor\scripts_experimento\informe_avance_assets\f_serie_on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97280"/>
            <a:ext cx="3931920" cy="1600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46320" y="2724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bolsa promedio diario 2019-2026 y episodios ENSO. Datos: XM y NOAA.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846320" y="315468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983480" y="321868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72 %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3794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generación es hidroeléctrica [1]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903720" y="315468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DECE4"/>
          </a:solidFill>
          <a:ln w="12700">
            <a:solidFill>
              <a:srgbClr val="FDECE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040880" y="321868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7040880" y="3794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subió el precio medio entre ene-abr y may-ago de 2026 (202 → 594 COP/kWh)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-1234440"/>
            <a:ext cx="2468880" cy="2468880"/>
          </a:xfrm>
          <a:prstGeom prst="donut">
            <a:avLst/>
          </a:prstGeom>
          <a:solidFill>
            <a:srgbClr val="1FA6E0">
              <a:alpha val="75000"/>
            </a:srgbClr>
          </a:solidFill>
          <a:ln w="12700">
            <a:solidFill>
              <a:srgbClr val="1FA6E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General: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implementar y validar una plataforma de procesamiento de datos que permita el análisis y pronóstico del precio de la energía en el mercado eléctrico colombiano para la toma de decisiones.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685800"/>
            <a:ext cx="502920" cy="502920"/>
          </a:xfrm>
          <a:prstGeom prst="ellipse">
            <a:avLst/>
          </a:prstGeom>
          <a:solidFill>
            <a:srgbClr val="184F95"/>
          </a:solidFill>
          <a:ln w="12700">
            <a:solidFill>
              <a:srgbClr val="184F9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640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Adquirir, sincronizar y caracterizar temporal y espectralmente las series históricas del mercado para seleccionar variables predictoras.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673352"/>
            <a:ext cx="502920" cy="502920"/>
          </a:xfrm>
          <a:prstGeom prst="ellipse">
            <a:avLst/>
          </a:prstGeom>
          <a:solidFill>
            <a:srgbClr val="184F95"/>
          </a:solidFill>
          <a:ln w="12700">
            <a:solidFill>
              <a:srgbClr val="184F9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62763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OE2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y evaluar modelos de pronóstico del precio de bolsa: precisión frente a la persistencia, robustez, costo e interpretabilidad.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660904"/>
            <a:ext cx="502920" cy="5029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660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615184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motor de decisión que traduzca los pronósticos y su incertidumbre en señales de compra, venta o espera.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3648456"/>
            <a:ext cx="502920" cy="5029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360273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OE4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funcionamiento del motor para la toma de decisiones.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Alcances y limitaciones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el Anexo 1 [2]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09160" y="1143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77640" cy="1463040"/>
          </a:xfrm>
          <a:prstGeom prst="roundRect">
            <a:avLst>
              <a:gd name="adj" fmla="val 7500"/>
            </a:avLst>
          </a:prstGeom>
          <a:solidFill>
            <a:srgbClr val="E3F6EF"/>
          </a:solidFill>
          <a:ln w="12700">
            <a:solidFill>
              <a:srgbClr val="E3F6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5564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600200"/>
            <a:ext cx="3063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OE1–OE2: solo datos públicos con pipeline automatizado (API de XM y SIMEM), sincronizados a resolución horaria de enero de 2019 a agosto de 2026; caracterización temporal y espectral; modelos comparados a 24–72 h con MAE, RMSE, MAPE, persistencia y costo computacional.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3063240"/>
            <a:ext cx="3977640" cy="1463040"/>
          </a:xfrm>
          <a:prstGeom prst="roundRect">
            <a:avLst>
              <a:gd name="adj" fmla="val 7500"/>
            </a:avLst>
          </a:prstGeom>
          <a:solidFill>
            <a:srgbClr val="E3F6EF"/>
          </a:solidFill>
          <a:ln w="12700">
            <a:solidFill>
              <a:srgbClr val="E3F6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3558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34440" y="3200400"/>
            <a:ext cx="3063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OE3–OE4: motor con reglas basadas en percentiles del precio y su incertidumbre según rol comprador o vendedor; dashboard con una biblioteca de 4-5 tipos de imágenes; backtesting histórico y validación con 3-5 usuarios.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09160" y="1463040"/>
            <a:ext cx="3977640" cy="1463040"/>
          </a:xfrm>
          <a:prstGeom prst="roundRect">
            <a:avLst>
              <a:gd name="adj" fmla="val 7500"/>
            </a:avLst>
          </a:prstGeom>
          <a:solidFill>
            <a:srgbClr val="FDECE4"/>
          </a:solidFill>
          <a:ln w="12700">
            <a:solidFill>
              <a:srgbClr val="FDEC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92040" y="1645920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7556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86400" y="1600200"/>
            <a:ext cx="3063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OE1–OE2: sin datos operativos propietarios ni fenómenos intra-horarios; sin desglose de la generación por tipo de recurso; pronóstico solo entre 24 y 72 h, con modelos de la literatura.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09160" y="3063240"/>
            <a:ext cx="3977640" cy="1463040"/>
          </a:xfrm>
          <a:prstGeom prst="roundRect">
            <a:avLst>
              <a:gd name="adj" fmla="val 7500"/>
            </a:avLst>
          </a:prstGeom>
          <a:solidFill>
            <a:srgbClr val="FDECE4"/>
          </a:solidFill>
          <a:ln w="12700">
            <a:solidFill>
              <a:srgbClr val="FDECE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3558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0" y="3200400"/>
            <a:ext cx="30632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OE3–OE4: no ejecuta transacciones ni se integra con el despacho de XM; sin simulación estructural del despacho; validación con 5 usuarios o menos; el backtesting no garantiza el desempeño fuera del rango histórico.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12064" cy="512064"/>
          </a:xfrm>
          <a:prstGeom prst="ellipse">
            <a:avLst/>
          </a:prstGeom>
          <a:solidFill>
            <a:srgbClr val="184F95"/>
          </a:solidFill>
          <a:ln w="12700">
            <a:solidFill>
              <a:srgbClr val="184F9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95" y="452079"/>
            <a:ext cx="266273" cy="26627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2743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874520"/>
                <a:gridCol w="2194560"/>
                <a:gridCol w="23774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y resolución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Metodología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Limitación frente a este proyecto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Agudelo et al., 2015 [5]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Colombia, antes de la reforma CREG de 2015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neuronal NARX con entradas exógenas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previos a 2015; sin incertidumbre ni decisión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Muñoz-Santiago et al., 2017 [6]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Colombia, serie agregada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 con IGARCH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solo modelo; sin variables horarias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Gallón y Barrientos, 2021 [7]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Colombia, horaria 2000-2017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funcionales (FPCA); MAPE 6,7 % a 1 día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Periodo calmo; univariado; sin decisión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Lago et al., 2021 [8]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mercados europeos, horaria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 y redes profundas; benchmark abierto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mercados hidro-dominados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Kapoor y Wichitaksorn, 2023 [9]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Nueva Zelanda (hidro), diaria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modelos; ninguno con MASE &lt;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Resolución diaria; sin recomendación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84F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Este proyecto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84F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Colombia, horaria 2019-2026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84F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Ensamble de 6 familias, bandas conformes y motor de decisión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84F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con usuarios pendiente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315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Brecha: ningún trabajo cuantifica la incertidumbre ni la traduce en una recomendación por rol.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12064" cy="512064"/>
          </a:xfrm>
          <a:prstGeom prst="ellipse">
            <a:avLst/>
          </a:prstGeom>
          <a:solidFill>
            <a:srgbClr val="184F95"/>
          </a:solidFill>
          <a:ln w="12700">
            <a:solidFill>
              <a:srgbClr val="184F9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95" y="452079"/>
            <a:ext cx="266273" cy="26627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2743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variables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5778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960120"/>
                <a:gridCol w="1051560"/>
                <a:gridCol w="17830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 a horaria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de bolsa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 [3]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Demanda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Generación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Volumen útil de embalses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Interpolación lineal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Aportes hídricos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Interpolación lineal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ONI (El Niño)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NOAA [4]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Rampa causal, sin datos futuros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309360" y="1097280"/>
            <a:ext cx="2377440" cy="1051560"/>
          </a:xfrm>
          <a:prstGeom prst="roundRect">
            <a:avLst>
              <a:gd name="adj" fmla="val 1043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46520" y="11704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66.576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6446520" y="162763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continuas, ene-2019 a ago-2026, sin huecos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309360" y="2286000"/>
            <a:ext cx="2377440" cy="1051560"/>
          </a:xfrm>
          <a:prstGeom prst="roundRect">
            <a:avLst>
              <a:gd name="adj" fmla="val 1043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46520" y="2359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6446520" y="281635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predictoras: rezagos, medias móviles, armónicos, hidrología y ONI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309360" y="3474720"/>
            <a:ext cx="2377440" cy="1051560"/>
          </a:xfrm>
          <a:prstGeom prst="roundRect">
            <a:avLst>
              <a:gd name="adj" fmla="val 1043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46520" y="35478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24 h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400507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rezago mínimo en todas las variables: sin fuga de información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12064" cy="512064"/>
          </a:xfrm>
          <a:prstGeom prst="ellipse">
            <a:avLst/>
          </a:prstGeom>
          <a:solidFill>
            <a:srgbClr val="184F95"/>
          </a:solidFill>
          <a:ln w="12700">
            <a:solidFill>
              <a:srgbClr val="184F9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95" y="452079"/>
            <a:ext cx="266273" cy="26627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2743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sistema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56032" cy="256032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(OE1)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descargan de XM y NOAA, se sincronizan a resolución horaria y se caracterizan.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359152"/>
            <a:ext cx="256032" cy="256032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313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(OE2)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7919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modelos de familias distintas combinados en un ensamble, con bandas de incertidumbre a 24 y 72 h.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529584"/>
            <a:ext cx="256032" cy="256032"/>
          </a:xfrm>
          <a:prstGeom prst="rect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3483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(OE3–OE4)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3849624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lee el pronóstico por un contrato de datos y el dashboard muestra la recomendación.</a:t>
            </a:r>
            <a:endParaRPr lang="en-US" sz="1100" dirty="0"/>
          </a:p>
        </p:txBody>
      </p:sp>
      <p:pic>
        <p:nvPicPr>
          <p:cNvPr id="14" name="Image 1" descr="C:\Users\rafad\Downloads\Proyecto_Final\xm-spot-price-predictor\scripts_experimento\informe_avance_assets\f_diagrama_bloqu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914400"/>
            <a:ext cx="4983480" cy="369417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-1234440"/>
            <a:ext cx="2468880" cy="2468880"/>
          </a:xfrm>
          <a:prstGeom prst="donut">
            <a:avLst/>
          </a:prstGeom>
          <a:solidFill>
            <a:srgbClr val="1FA6E0">
              <a:alpha val="75000"/>
            </a:srgbClr>
          </a:solidFill>
          <a:ln w="12700">
            <a:solidFill>
              <a:srgbClr val="1FA6E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430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· OE1 (100 %)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931920" cy="2423160"/>
          </a:xfrm>
          <a:prstGeom prst="roundRect">
            <a:avLst>
              <a:gd name="adj" fmla="val 4528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258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DE LA SEÑAL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3566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periodograma del precio sin tendencia muestra componentes dominantes en 24, 12 y 168 h. Estas componentes definieron las variables del modelo: rezagos de 24 y 168 h y armónicos de calendario. El filtro de Savitzky-Golay siguió las subidas de precio más rápido y con menos ruido que el promedio móvil.</a:t>
            </a:r>
            <a:endParaRPr lang="en-US" sz="1300" dirty="0"/>
          </a:p>
        </p:txBody>
      </p:sp>
      <p:pic>
        <p:nvPicPr>
          <p:cNvPr id="8" name="Image 0" descr="C:\Users\rafad\Downloads\Proyecto_Final\xm-spot-price-predictor\scripts_experimento\informe_avance_assets\f_period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868680"/>
            <a:ext cx="4069080" cy="17465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663440" y="26517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Periodograma del precio de bolsa sin tendencia (líneas rojas: 12, 24 y 168 h).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3154680"/>
            <a:ext cx="1234440" cy="1143000"/>
          </a:xfrm>
          <a:prstGeom prst="roundRect">
            <a:avLst>
              <a:gd name="adj" fmla="val 9600"/>
            </a:avLst>
          </a:prstGeom>
          <a:solidFill>
            <a:srgbClr val="184F95"/>
          </a:solidFill>
          <a:ln w="12700">
            <a:solidFill>
              <a:srgbClr val="184F9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3749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diario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35040" y="3154680"/>
            <a:ext cx="1234440" cy="1143000"/>
          </a:xfrm>
          <a:prstGeom prst="roundRect">
            <a:avLst>
              <a:gd name="adj" fmla="val 9600"/>
            </a:avLst>
          </a:prstGeom>
          <a:solidFill>
            <a:srgbClr val="184F95"/>
          </a:solidFill>
          <a:ln w="12700">
            <a:solidFill>
              <a:srgbClr val="184F9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3749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día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06640" y="3154680"/>
            <a:ext cx="1234440" cy="1143000"/>
          </a:xfrm>
          <a:prstGeom prst="roundRect">
            <a:avLst>
              <a:gd name="adj" fmla="val 9600"/>
            </a:avLst>
          </a:prstGeom>
          <a:solidFill>
            <a:srgbClr val="184F95"/>
          </a:solidFill>
          <a:ln w="12700">
            <a:solidFill>
              <a:srgbClr val="184F9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06640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h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3749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semanal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12064" cy="512064"/>
          </a:xfrm>
          <a:prstGeom prst="ellipse">
            <a:avLst/>
          </a:prstGeom>
          <a:solidFill>
            <a:srgbClr val="184F95"/>
          </a:solidFill>
          <a:ln w="12700">
            <a:solidFill>
              <a:srgbClr val="184F9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95" y="452079"/>
            <a:ext cx="266273" cy="26627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2743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· OE2: pronóstico a 24 h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10,45 %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45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del ensamble a 24 h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01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persistencia: 15,81 %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2677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−27 %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816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error frente a la persistencia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0723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estándar del área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4381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7,76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9867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Diebold-Mariano [10]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428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significativa, p &lt; 0,001</a:t>
            </a:r>
            <a:endParaRPr lang="en-US" sz="1000" dirty="0"/>
          </a:p>
        </p:txBody>
      </p:sp>
      <p:pic>
        <p:nvPicPr>
          <p:cNvPr id="14" name="Image 1" descr="C:\Users\rafad\Downloads\Proyecto_Final\xm-spot-price-predictor\scripts_experimento\informe_avance_assets\f_real_vs_pronosti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051560"/>
            <a:ext cx="4892040" cy="19842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840480" y="306324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real frente al pronóstico del ensamble, 2026 (fuera de muestra).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840480" y="3429000"/>
            <a:ext cx="4892040" cy="1143000"/>
          </a:xfrm>
          <a:prstGeom prst="roundRect">
            <a:avLst>
              <a:gd name="adj" fmla="val 96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023360" y="350215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de 6 familias: persistencia, XGBoost, ARX+GARCH, N-BEATSx [11], N-HiTS y GARCH-ged, combinados por regresión cuantílica con pesos por franja de 6 h. Entrenado con 2019-2025 y evaluado en enero-agosto de 2026.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12064" cy="512064"/>
          </a:xfrm>
          <a:prstGeom prst="ellipse">
            <a:avLst/>
          </a:prstGeom>
          <a:solidFill>
            <a:srgbClr val="184F95"/>
          </a:solidFill>
          <a:ln w="12700">
            <a:solidFill>
              <a:srgbClr val="184F9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95" y="452079"/>
            <a:ext cx="266273" cy="26627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2743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· OE2: 72 h y robustez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1206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806440" y="1051560"/>
            <a:ext cx="2880360" cy="1051560"/>
          </a:xfrm>
          <a:prstGeom prst="roundRect">
            <a:avLst>
              <a:gd name="adj" fmla="val 1043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943600" y="1325880"/>
            <a:ext cx="457200" cy="4572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435608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510528" y="112471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gana a la persistencia en los tres tramos: MAPE global 16,85 % frente a 21,86 %.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5806440" y="2240280"/>
            <a:ext cx="2880360" cy="1051560"/>
          </a:xfrm>
          <a:prstGeom prst="roundRect">
            <a:avLst>
              <a:gd name="adj" fmla="val 1043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943600" y="2514600"/>
            <a:ext cx="457200" cy="457200"/>
          </a:xfrm>
          <a:prstGeom prst="ellipse">
            <a:avLst/>
          </a:prstGeom>
          <a:solidFill>
            <a:srgbClr val="1FA6E0"/>
          </a:solidFill>
          <a:ln w="12700">
            <a:solidFill>
              <a:srgbClr val="1FA6E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262432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510528" y="231343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Bandas [q10, q90] con cobertura de ~78 % (objetivo 80 %), calibradas por inferencia conforme [12].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5806440" y="3429000"/>
            <a:ext cx="2880360" cy="1051560"/>
          </a:xfrm>
          <a:prstGeom prst="roundRect">
            <a:avLst>
              <a:gd name="adj" fmla="val 1043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943600" y="3703320"/>
            <a:ext cx="457200" cy="457200"/>
          </a:xfrm>
          <a:prstGeom prst="ellipse">
            <a:avLst/>
          </a:prstGeom>
          <a:solidFill>
            <a:srgbClr val="184F95"/>
          </a:solidFill>
          <a:ln w="12700">
            <a:solidFill>
              <a:srgbClr val="184F9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381304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510528" y="350215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en 6 regímenes climáticos: ningún modelo individual gana siempre, por eso se usa un ensamble.</a:t>
            </a:r>
            <a:endParaRPr lang="en-US" sz="1050" dirty="0"/>
          </a:p>
        </p:txBody>
      </p:sp>
      <p:sp>
        <p:nvSpPr>
          <p:cNvPr id="18" name="Text 11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12064" cy="512064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95" y="452079"/>
            <a:ext cx="266273" cy="26627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2743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· OE3: motor de decisión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1737360" cy="1234440"/>
          </a:xfrm>
          <a:prstGeom prst="roundRect">
            <a:avLst>
              <a:gd name="adj" fmla="val 888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188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55448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 p25 y p75 del precio histórico 2019-2025.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331720" y="1097280"/>
            <a:ext cx="1737360" cy="1234440"/>
          </a:xfrm>
          <a:prstGeom prst="roundRect">
            <a:avLst>
              <a:gd name="adj" fmla="val 888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68880" y="1188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rodante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155448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 de los últimos 30 días: se adapta al régimen.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1737360" cy="1234440"/>
          </a:xfrm>
          <a:prstGeom prst="roundRect">
            <a:avLst>
              <a:gd name="adj" fmla="val 888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2560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92608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Fijo + espera si la banda de incertidumbre es ancha.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331720" y="2468880"/>
            <a:ext cx="1737360" cy="1234440"/>
          </a:xfrm>
          <a:prstGeom prst="roundRect">
            <a:avLst>
              <a:gd name="adj" fmla="val 8889"/>
            </a:avLst>
          </a:prstGeom>
          <a:solidFill>
            <a:srgbClr val="E3F6EF"/>
          </a:solidFill>
          <a:ln w="12700">
            <a:solidFill>
              <a:srgbClr val="E3F6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468880" y="2560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468880" y="292608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Rodante + el mismo filtro de confianza de banda.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9319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</a:t>
            </a:r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q50 bajo el umbral bajo → comercializador compra, generador retiene; sobre el alto → evita compra, vende; en medio → espera.</a:t>
            </a:r>
            <a:endParaRPr lang="en-US" sz="1050" dirty="0"/>
          </a:p>
        </p:txBody>
      </p:sp>
      <p:pic>
        <p:nvPicPr>
          <p:cNvPr id="18" name="Image 1" descr="C:\Users\rafad\Downloads\Proyecto_Final\xm-spot-price-predictor\scripts_experimento\informe_avance_assets\f_motor_hibri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51560"/>
            <a:ext cx="4434840" cy="266090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297680" y="37490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«híbrido», rol generador, 13 a 19 de julio de 2026.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12064" cy="512064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95" y="452079"/>
            <a:ext cx="266273" cy="26627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2743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· OE3–OE4: selección y resultados</a:t>
            </a:r>
            <a:endParaRPr lang="en-US" sz="2600" dirty="0"/>
          </a:p>
        </p:txBody>
      </p:sp>
      <p:pic>
        <p:nvPicPr>
          <p:cNvPr id="5" name="Image 1" descr="C:\Users\rafad\Downloads\Proyecto_Final\xm-spot-price-predictor\scripts_experimento\informe_avance_assets\f_motor_mitad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24128"/>
            <a:ext cx="4206240" cy="174650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27889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con acción por mitad de 2026 (generador, 24 h): «banda» actúa en el 1 % de la 1.ª mitad.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320040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E3F6EF"/>
          </a:solidFill>
          <a:ln w="12700">
            <a:solidFill>
              <a:srgbClr val="E3F6E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32918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estabilidad (maximin [13]): </a:t>
            </a:r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el método con mejor resultado en su peor mitad del año, no el de mejor promedio. Antes ganaba «banda»; ahora, «híbrido» y «rodante».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051560"/>
          <a:ext cx="38404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143000"/>
                <a:gridCol w="73152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Ventaja 1.ª / 2.ª mitad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híbrido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78,1 / 183,5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comercializador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82,7 / 248,2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híbrido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73,3 / 146,0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comercializador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71,9 / 219,6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892040" y="2724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en COP/kWh frente al precio medio; positiva en ambas mitades.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4892040" y="3108960"/>
            <a:ext cx="1847088" cy="1463040"/>
          </a:xfrm>
          <a:prstGeom prst="roundRect">
            <a:avLst>
              <a:gd name="adj" fmla="val 7500"/>
            </a:avLst>
          </a:prstGeom>
          <a:solidFill>
            <a:srgbClr val="E3F6EF"/>
          </a:solidFill>
          <a:ln w="12700">
            <a:solidFill>
              <a:srgbClr val="E3F6E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001768" y="31729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+1,06 M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5001768" y="3675888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con «híbrido», cliente de ejemplo de 100 kW, 7 jul–5 ago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885432" y="3108960"/>
            <a:ext cx="1847088" cy="1463040"/>
          </a:xfrm>
          <a:prstGeom prst="roundRect">
            <a:avLst>
              <a:gd name="adj" fmla="val 7500"/>
            </a:avLst>
          </a:prstGeom>
          <a:solidFill>
            <a:srgbClr val="FDECE4"/>
          </a:solidFill>
          <a:ln w="12700">
            <a:solidFill>
              <a:srgbClr val="FDECE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995160" y="31729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−0,65 M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6995160" y="3675888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con «banda», mismo cliente y periodo (ilustrativo)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12064" cy="512064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95" y="452079"/>
            <a:ext cx="266273" cy="26627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2743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· OE3: dashboard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1263701"/>
            <a:ext cx="261518" cy="26151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10972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Operador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4447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hago ahora? Acción por hora, posición del precio entre los umbrales y nivel de confianza.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2313432"/>
            <a:ext cx="502920" cy="5029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2434133"/>
            <a:ext cx="261518" cy="26151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22677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Analista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261518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Método, percentiles y rango de fechas ajustables, con la comparación completa de métodos.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57200" y="3483864"/>
            <a:ext cx="502920" cy="5029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3604565"/>
            <a:ext cx="261518" cy="26151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43000" y="34381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37856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 en las 4 combinaciones de rol y horizonte.</a:t>
            </a:r>
            <a:endParaRPr lang="en-US" sz="1100" dirty="0"/>
          </a:p>
        </p:txBody>
      </p:sp>
      <p:pic>
        <p:nvPicPr>
          <p:cNvPr id="17" name="Image 4" descr="C:\Users\rafad\Downloads\Proyecto_Final\xm-spot-price-predictor\scripts_experimento\informe_avance_assets\f_dashboard_operad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914400"/>
            <a:ext cx="4105656" cy="3703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 y soluciones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1600200"/>
          </a:xfrm>
          <a:prstGeom prst="roundRect">
            <a:avLst>
              <a:gd name="adj" fmla="val 685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898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1887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de distinta resolución y riesgo de fuga de información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explícitas: rezago mínimo de 24 h y rampa causal para el ONI.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09160" y="1051560"/>
            <a:ext cx="3977640" cy="1600200"/>
          </a:xfrm>
          <a:prstGeom prst="roundRect">
            <a:avLst>
              <a:gd name="adj" fmla="val 685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92040" y="1280160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38988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0" y="11887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individuales no superan a la persistencia en los años históricos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de familias diversas con pesos por franja horaria.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834640"/>
            <a:ext cx="3977640" cy="1600200"/>
          </a:xfrm>
          <a:prstGeom prst="roundRect">
            <a:avLst>
              <a:gd name="adj" fmla="val 685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7296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29718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erróneos de la fuente: demanda del 4-5 de agosto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 al reejecutar en una copia aislada; corregido y reentrenado.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709160" y="2834640"/>
            <a:ext cx="3977640" cy="1600200"/>
          </a:xfrm>
          <a:prstGeom prst="roundRect">
            <a:avLst>
              <a:gd name="adj" fmla="val 685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92040" y="3063240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17296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0" y="29718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método del motor en promedio no era estable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estabilidad (maximin entre las mitades del año).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fecha de corte (26 de septiembre): 77 % logrado frente a 87 % planeado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82296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12064" cy="512064"/>
          </a:xfrm>
          <a:prstGeom prst="ellipse">
            <a:avLst/>
          </a:prstGeom>
          <a:solidFill>
            <a:srgbClr val="184F95"/>
          </a:solidFill>
          <a:ln w="12700">
            <a:solidFill>
              <a:srgbClr val="184F9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95" y="452079"/>
            <a:ext cx="266273" cy="26627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2743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objetivos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OE1: 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caracterización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OE2: 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pronóstico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OE3: 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decisión y dashboard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OE4: 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motor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33649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4005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del objetivo general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206240" y="1005840"/>
          <a:ext cx="45262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12064" cy="512064"/>
          </a:xfrm>
          <a:prstGeom prst="ellipse">
            <a:avLst/>
          </a:prstGeom>
          <a:solidFill>
            <a:srgbClr val="184F95"/>
          </a:solidFill>
          <a:ln w="12700">
            <a:solidFill>
              <a:srgbClr val="184F9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95" y="452079"/>
            <a:ext cx="266273" cy="26627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27432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(semanas 11 a 16)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184F95"/>
          </a:solidFill>
          <a:ln w="12700">
            <a:solidFill>
              <a:srgbClr val="184F9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24128" y="10241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11–12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298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 18 de octubre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69164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87452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dashboard con 3-5 usuarios (OE4)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el motor al ensamble de 6 modelos (OE3)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en los orígenes históricos 1 a 5 (OE2)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73552" y="1051560"/>
            <a:ext cx="457200" cy="457200"/>
          </a:xfrm>
          <a:prstGeom prst="ellipse">
            <a:avLst/>
          </a:prstGeom>
          <a:solidFill>
            <a:srgbClr val="1FA6E0"/>
          </a:solidFill>
          <a:ln w="12700">
            <a:solidFill>
              <a:srgbClr val="1FA6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73552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840480" y="10241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13–14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298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oct al 1 nov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73552" y="169164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10712" y="187452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4-5 tipos de imágenes de decisión (OE3)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histórico y umbrales relativos del motor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los hallazgos de la validación (OE4)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89904" y="1051560"/>
            <a:ext cx="457200" cy="4572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89904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656832" y="10241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15–16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656832" y="1298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al 15 de noviembre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89904" y="169164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27064" y="1874520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 y repositorio ordenado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del motor de decisión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Demo, informe final, póster, presentación y video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del precio de bolsa · Barceló y Dede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-1234440"/>
            <a:ext cx="2468880" cy="2468880"/>
          </a:xfrm>
          <a:prstGeom prst="donut">
            <a:avLst/>
          </a:prstGeom>
          <a:solidFill>
            <a:srgbClr val="1FA6E0">
              <a:alpha val="75000"/>
            </a:srgbClr>
          </a:solidFill>
          <a:ln w="12700">
            <a:solidFill>
              <a:srgbClr val="1FA6E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63040" y="320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International Energy Agency, "Colombia 2023 — Energy Policy Review," IEA, París, 2023.</a:t>
            </a:r>
            <a:endParaRPr lang="en-US" sz="8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J. D. Barceló Barraza y R. A. Dede Perdomo, "Anexo 1 — Formulación del proyecto," Universidad del Norte, Barranquilla, 2026.</a:t>
            </a:r>
            <a:endParaRPr lang="en-US" sz="8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XM S.A. E.S.P., "API de datos del Sistema de Información del Mercado de Energía Mayorista," servapibi.xm.com.co, 2026.</a:t>
            </a:r>
            <a:endParaRPr lang="en-US" sz="8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NOAA Climate Prediction Center, "Oceanic Niño Index (ONI)," cpc.ncep.noaa.gov, 2026.</a:t>
            </a:r>
            <a:endParaRPr lang="en-US" sz="8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A. P. Agudelo, J. M. López-Lezama y E. Velilla, "Predicción del precio de la electricidad en la bolsa mediante un modelo neuronal NARX," Inf. Tecnol., vol. 26, no. 6, pp. 99–108, 2015.</a:t>
            </a:r>
            <a:endParaRPr lang="en-US" sz="8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A. Muñoz-Santiago et al., "Pronóstico del precio de la energía en Colombia utilizando modelos ARIMA con IGARCH," Rev. Econ. Rosario, vol. 20, no. 1, pp. 127–161, 2017.</a:t>
            </a:r>
            <a:endParaRPr lang="en-US" sz="8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S. Gallón y J. Barrientos, "Forecasting the Colombian electricity spot price under a functional approach," Int. J. Energy Econ. Policy, vol. 11, no. 2, pp. 67–74, 2021.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371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J. Lago, G. Marcjasz, B. De Schutter y R. Weron, "Forecasting day-ahead electricity prices: A review of state-of-the-art algorithms, best practices and an open-access benchmark," Appl. Energy, vol. 293, 2021.</a:t>
            </a:r>
            <a:endParaRPr lang="en-US" sz="8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G. Kapoor y N. Wichitaksorn, "Electricity price forecasting in New Zealand: A comparative analysis of statistical and machine learning models with feature selection," Appl. Energy, vol. 347, 2023.</a:t>
            </a:r>
            <a:endParaRPr lang="en-US" sz="8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F. X. Diebold y R. S. Mariano, "Comparing predictive accuracy," J. Bus. Econ. Stat., vol. 13, no. 3, pp. 253–263, 1995.</a:t>
            </a:r>
            <a:endParaRPr lang="en-US" sz="8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K. G. Olivares et al., "Neural basis expansion analysis with exogenous variables: Forecasting electricity prices with NBEATSx," Int. J. Forecast., vol. 39, no. 2, pp. 884–900, 2023.</a:t>
            </a:r>
            <a:endParaRPr lang="en-US" sz="8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Y. Romano, E. Patterson y E. Candès, "Conformalized quantile regression," en NeurIPS 32, 2019.</a:t>
            </a:r>
            <a:endParaRPr lang="en-US" sz="8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A. Wald, Statistical Decision Functions. Nueva York: Wiley, 1950.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-1234440"/>
            <a:ext cx="2468880" cy="2468880"/>
          </a:xfrm>
          <a:prstGeom prst="donut">
            <a:avLst/>
          </a:prstGeom>
          <a:solidFill>
            <a:srgbClr val="1FA6E0">
              <a:alpha val="65000"/>
            </a:srgbClr>
          </a:solidFill>
          <a:ln w="12700">
            <a:solidFill>
              <a:srgbClr val="1FA6E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0" y="1097280"/>
            <a:ext cx="2194560" cy="21945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614" y="1623974"/>
            <a:ext cx="1141171" cy="114117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2788920"/>
            <a:ext cx="1005840" cy="1005840"/>
          </a:xfrm>
          <a:prstGeom prst="ellipse">
            <a:avLst/>
          </a:prstGeom>
          <a:solidFill>
            <a:srgbClr val="1FA6E0"/>
          </a:solidFill>
          <a:ln w="12700">
            <a:solidFill>
              <a:srgbClr val="1FA6E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22" y="3030322"/>
            <a:ext cx="523037" cy="52303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01000" y="3154680"/>
            <a:ext cx="685800" cy="6858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319272"/>
            <a:ext cx="35661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Pronóstico del precio de bolsa y apoyo a la decisión — Avances</dc:title>
  <dc:subject>PptxGenJS Presentation</dc:subject>
  <dc:creator>Juan David Barceló Barraza y Rafael Andrés Dede Perdomo</dc:creator>
  <cp:lastModifiedBy>Juan David Barceló Barraza y Rafael Andrés Dede Perdomo</cp:lastModifiedBy>
  <cp:revision>1</cp:revision>
  <dcterms:created xsi:type="dcterms:W3CDTF">2026-09-30T04:25:07Z</dcterms:created>
  <dcterms:modified xsi:type="dcterms:W3CDTF">2026-09-30T04:25:07Z</dcterms:modified>
</cp:coreProperties>
</file>